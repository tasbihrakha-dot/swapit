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D36C5C-164B-4CEE-AAE7-3301F649F51E}" v="393" dt="2026-10-24T11:38:44.3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1792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everything in [brackets]. Delete all grey guidance text before you present. 5 slides after this one, 5 minutes in total. Every member speaks.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60 seconds. The story makes people care; the statement makes it precise.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convince. One big number per box. Say what surprised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Bring your full BMC printed. The slide shows only what the audience needs. Profit = Revenues − Expenses (Week 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the ask, then stop and say “Thank you — questions?”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9A282-23EF-F8F5-61B6-2704D3F49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5B002B-B4F4-E547-77B9-97F361D986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C2F2D7-E4C4-A66B-16AD-5A108D6F50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the ask, then stop and say “Thank you — questions?”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61363-F658-D4F6-4999-A510B90DA9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598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/>
                <a:ea typeface="Cambria"/>
              </a:rPr>
              <a:t>[</a:t>
            </a:r>
            <a:r>
              <a:rPr lang="en-US" sz="4400" b="1" dirty="0" err="1">
                <a:solidFill>
                  <a:srgbClr val="FFFFFF"/>
                </a:solidFill>
                <a:latin typeface="Cambria"/>
                <a:ea typeface="Cambria"/>
              </a:rPr>
              <a:t>Swaplt</a:t>
            </a:r>
            <a:r>
              <a:rPr lang="en-US" sz="4400" b="1" dirty="0">
                <a:solidFill>
                  <a:srgbClr val="FFFFFF"/>
                </a:solidFill>
                <a:latin typeface="Cambria"/>
                <a:ea typeface="Cambria"/>
              </a:rPr>
              <a:t>]</a:t>
            </a:r>
            <a:endParaRPr lang="en-US" sz="4400" dirty="0">
              <a:latin typeface="Cambria"/>
              <a:ea typeface="Cambria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2967833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2000" i="1" dirty="0">
              <a:solidFill>
                <a:srgbClr val="CADCFC"/>
              </a:solidFill>
              <a:latin typeface="Calibri"/>
              <a:ea typeface="Calibri"/>
              <a:cs typeface="Calibri"/>
            </a:endParaRPr>
          </a:p>
          <a:p>
            <a:endParaRPr lang="en-US"/>
          </a:p>
          <a:p>
            <a:r>
              <a:rPr lang="en-US" sz="20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[A backend API that helps people exchange products with one another.</a:t>
            </a:r>
            <a:endParaRPr lang="en-US"/>
          </a:p>
          <a:p>
            <a:endParaRPr lang="en-US"/>
          </a:p>
          <a:p>
            <a:r>
              <a:rPr lang="en-US" sz="2000" i="1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Project: </a:t>
            </a:r>
            <a:r>
              <a:rPr lang="en-US" sz="2000" i="1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SwapIt</a:t>
            </a:r>
            <a:r>
              <a:rPr lang="en-US" sz="2000" i="1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· Backend Development]</a:t>
            </a:r>
            <a:endParaRPr lang="en-US"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188302" y="5401223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Group :</a:t>
            </a:r>
            <a:r>
              <a:rPr lang="en-US" sz="15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tasbih </a:t>
            </a:r>
            <a:r>
              <a:rPr lang="en-US" sz="15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mossad</a:t>
            </a:r>
            <a:r>
              <a:rPr lang="en-US" sz="15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5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rakha</a:t>
            </a:r>
            <a:endParaRPr lang="en-US" sz="1500" b="1" dirty="0" err="1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5486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 ·  EMPATHY MAPS · PROBLEM STATEMENT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BF6EC"/>
          </a:solidFill>
          <a:ln w="12700">
            <a:solidFill>
              <a:srgbClr val="E8DC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STORY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1168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/>
              <a:t>People own useful items they no longer need, while others need those items. Finding a suitable exchange partner and managing the exchange can be difficult.</a:t>
            </a:r>
            <a:endParaRPr lang="en-US" sz="2000" i="1">
              <a:solidFill>
                <a:srgbClr val="9AA1B9"/>
              </a:solidFill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336792" y="146304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F7F8FC"/>
          </a:solidFill>
          <a:ln w="12700">
            <a:solidFill>
              <a:srgbClr val="DD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611112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PROBLEM STATEMENT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611112" y="201168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i="1">
                <a:solidFill>
                  <a:srgbClr val="9AA1B9"/>
                </a:solidFill>
                <a:ea typeface="Calibri"/>
                <a:cs typeface="Calibri"/>
              </a:rPr>
              <a:t>People who want to exchange products struggle to find and manage a suitable swap because they need a clear way to list products and handle exchange requests.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5486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 ·  MARKET RESEARCH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evidence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02964" y="1236233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00">
                <a:solidFill>
                  <a:srgbClr val="5B6485"/>
                </a:solidFill>
                <a:ea typeface="Calibri"/>
                <a:cs typeface="Calibri"/>
              </a:rPr>
              <a:t>Method: Survey / Interviews — Not conducted yet</a:t>
            </a:r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7F8FC"/>
          </a:solidFill>
          <a:ln w="12700">
            <a:solidFill>
              <a:srgbClr val="DD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34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C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 %  ]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7490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i="1">
                <a:solidFill>
                  <a:srgbClr val="9AA1B9"/>
                </a:solidFill>
                <a:latin typeface="Calibri"/>
                <a:ea typeface="Calibri"/>
                <a:cs typeface="Calibri"/>
              </a:rPr>
              <a:t>Finding 1:Do users have products they would exchange?</a:t>
            </a:r>
          </a:p>
        </p:txBody>
      </p:sp>
      <p:sp>
        <p:nvSpPr>
          <p:cNvPr id="11" name="Shape 9"/>
          <p:cNvSpPr/>
          <p:nvPr/>
        </p:nvSpPr>
        <p:spPr>
          <a:xfrm>
            <a:off x="4297680" y="192024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7F8FC"/>
          </a:solidFill>
          <a:ln w="12700">
            <a:solidFill>
              <a:srgbClr val="DD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0" y="21488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57200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834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C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 %  ]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7490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i="1">
                <a:solidFill>
                  <a:srgbClr val="9AA1B9"/>
                </a:solidFill>
                <a:latin typeface="Calibri"/>
                <a:ea typeface="Calibri"/>
                <a:cs typeface="Calibri"/>
              </a:rPr>
              <a:t>Finding 2:Would users prefer exchanging instead of buying?</a:t>
            </a:r>
          </a:p>
        </p:txBody>
      </p:sp>
      <p:sp>
        <p:nvSpPr>
          <p:cNvPr id="16" name="Shape 14"/>
          <p:cNvSpPr/>
          <p:nvPr/>
        </p:nvSpPr>
        <p:spPr>
          <a:xfrm>
            <a:off x="8046720" y="192024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7F8FC"/>
          </a:solidFill>
          <a:ln w="12700">
            <a:solidFill>
              <a:srgbClr val="DD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321040" y="21488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83210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834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C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 %  ]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37490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i="1">
                <a:solidFill>
                  <a:srgbClr val="9AA1B9"/>
                </a:solidFill>
                <a:latin typeface="Calibri"/>
                <a:ea typeface="Calibri"/>
                <a:cs typeface="Calibri"/>
              </a:rPr>
              <a:t>Finding 3:What makes users trust an exchange?</a:t>
            </a:r>
          </a:p>
        </p:txBody>
      </p:sp>
      <p:sp>
        <p:nvSpPr>
          <p:cNvPr id="21" name="Text 19"/>
          <p:cNvSpPr txBox="1"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00" i="1">
                <a:solidFill>
                  <a:srgbClr val="9AA1B9"/>
                </a:solidFill>
                <a:ea typeface="Calibri"/>
                <a:cs typeface="Calibri"/>
              </a:rPr>
              <a:t>NEXT STEP Survey at least 15–20 potential users to validate the idea.</a:t>
            </a:r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5486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 ·  DECISION MATRIX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6766560" cy="4206240"/>
          </a:xfrm>
          <a:prstGeom prst="roundRect">
            <a:avLst>
              <a:gd name="adj" fmla="val 1739"/>
            </a:avLst>
          </a:prstGeom>
          <a:solidFill>
            <a:srgbClr val="F7F8FC"/>
          </a:solidFill>
          <a:ln w="12700">
            <a:solidFill>
              <a:srgbClr val="DDE2EE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US" sz="1200">
                <a:solidFill>
                  <a:schemeClr val="accent1">
                    <a:lumMod val="76000"/>
                  </a:schemeClr>
                </a:solidFill>
              </a:rPr>
              <a:t>WHAT SWAPIT OFFERS</a:t>
            </a:r>
            <a:endParaRPr lang="en-US" sz="1200">
              <a:solidFill>
                <a:schemeClr val="accent1">
                  <a:lumMod val="76000"/>
                </a:schemeClr>
              </a:solidFill>
              <a:ea typeface="Calibri"/>
              <a:cs typeface="Calibri"/>
            </a:endParaRPr>
          </a:p>
          <a:p>
            <a:endParaRPr lang="en-US" sz="1200" dirty="0">
              <a:solidFill>
                <a:schemeClr val="accent1">
                  <a:lumMod val="76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 </a:t>
            </a:r>
            <a:r>
              <a:rPr lang="en-US" sz="16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SwapIt</a:t>
            </a:r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is a backend API for exchanging products between users.</a:t>
            </a:r>
            <a:endParaRPr lang="en-US" sz="1600">
              <a:solidFill>
                <a:schemeClr val="accent1">
                  <a:lumMod val="40000"/>
                  <a:lumOff val="60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66078" y="2101327"/>
            <a:ext cx="6217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works, step by step:</a:t>
            </a:r>
            <a:endParaRPr lang="en-US" sz="1600" dirty="0"/>
          </a:p>
          <a:p>
            <a:r>
              <a:rPr lang="en-US" sz="1600" i="1">
                <a:solidFill>
                  <a:srgbClr val="9AA1B9"/>
                </a:solidFill>
                <a:latin typeface="Calibri"/>
                <a:ea typeface="Calibri"/>
                <a:cs typeface="Calibri"/>
              </a:rPr>
              <a:t>1.Users register or log in securely.</a:t>
            </a:r>
            <a:endParaRPr lang="en-US" sz="1600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r>
              <a:rPr lang="en-US" sz="1600" i="1">
                <a:solidFill>
                  <a:srgbClr val="9AA1B9"/>
                </a:solidFill>
                <a:latin typeface="Calibri"/>
                <a:ea typeface="Calibri"/>
                <a:cs typeface="Calibri"/>
              </a:rPr>
              <a:t>2.Users browse products and send exchange requests</a:t>
            </a:r>
            <a:endParaRPr lang="en-US" sz="1600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r>
              <a:rPr lang="en-US" sz="1600" i="1">
                <a:solidFill>
                  <a:srgbClr val="9AA1B9"/>
                </a:solidFill>
                <a:latin typeface="Calibri"/>
                <a:ea typeface="Calibri"/>
                <a:cs typeface="Calibri"/>
              </a:rPr>
              <a:t>3.The product owner accepts or rejects the request.</a:t>
            </a:r>
            <a:endParaRPr lang="en-US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16952" y="1463040"/>
            <a:ext cx="4023360" cy="4206240"/>
          </a:xfrm>
          <a:prstGeom prst="roundRect">
            <a:avLst>
              <a:gd name="adj" fmla="val 1818"/>
            </a:avLst>
          </a:prstGeom>
          <a:solidFill>
            <a:srgbClr val="FBF6EC"/>
          </a:solidFill>
          <a:ln w="12700">
            <a:solidFill>
              <a:srgbClr val="E8DC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891272" y="1645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b="1" kern="0" spc="300">
                <a:solidFill>
                  <a:schemeClr val="accent1">
                    <a:lumMod val="76000"/>
                  </a:schemeClr>
                </a:solidFill>
                <a:ea typeface="Calibri"/>
                <a:cs typeface="Calibri"/>
              </a:rPr>
              <a:t>WHY THIS SOLUTION?</a:t>
            </a:r>
          </a:p>
          <a:p>
            <a:endParaRPr lang="en-US" sz="1100" b="1" kern="0" spc="300" dirty="0">
              <a:solidFill>
                <a:srgbClr val="C8963E"/>
              </a:solidFill>
              <a:ea typeface="Calibri"/>
              <a:cs typeface="Calibri"/>
            </a:endParaRPr>
          </a:p>
          <a:p>
            <a:r>
              <a:rPr lang="en-US" sz="1400" b="1" kern="0" spc="300">
                <a:solidFill>
                  <a:srgbClr val="C8963E"/>
                </a:solidFill>
                <a:ea typeface="Calibri"/>
                <a:cs typeface="Calibri"/>
              </a:rPr>
              <a:t>The API-first approach focuses on the core exchange process, with authentication, product management, and exchange request handling.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5486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 ·  BUSINESS MODEL CANVAS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makes money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7F8FC"/>
          </a:solidFill>
          <a:ln w="12700">
            <a:solidFill>
              <a:srgbClr val="DD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1645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PAYS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574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00" i="1">
                <a:solidFill>
                  <a:srgbClr val="9AA1B9"/>
                </a:solidFill>
                <a:latin typeface="Calibri"/>
                <a:ea typeface="Calibri"/>
                <a:cs typeface="Calibri"/>
              </a:rPr>
              <a:t>[Potential users or partners — revenue model not decided yet.]</a:t>
            </a:r>
            <a:endParaRPr lang="en-US" sz="1500">
              <a:latin typeface="Calibri"/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297680" y="14630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7F8FC"/>
          </a:solidFill>
          <a:ln w="12700">
            <a:solidFill>
              <a:srgbClr val="DD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572000" y="1645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FIND US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0574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00" i="1">
                <a:solidFill>
                  <a:srgbClr val="9AA1B9"/>
                </a:solidFill>
                <a:latin typeface="Calibri"/>
                <a:ea typeface="Calibri"/>
                <a:cs typeface="Calibri"/>
              </a:rPr>
              <a:t>[Student communities, social media, and local groups.]</a:t>
            </a:r>
            <a:endParaRPr lang="en-US" sz="1500">
              <a:latin typeface="Calibri"/>
              <a:ea typeface="Calibri"/>
              <a:cs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046720" y="14630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7F8FC"/>
          </a:solidFill>
          <a:ln w="12700">
            <a:solidFill>
              <a:srgbClr val="DD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321040" y="1645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574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00" i="1">
                <a:solidFill>
                  <a:srgbClr val="9AA1B9"/>
                </a:solidFill>
                <a:latin typeface="Calibri"/>
                <a:ea typeface="Calibri"/>
                <a:cs typeface="Calibri"/>
              </a:rPr>
              <a:t>[Backend API, database, hosting, users, and community support.]</a:t>
            </a:r>
            <a:endParaRPr lang="en-US" sz="1500">
              <a:latin typeface="Calibri"/>
              <a:ea typeface="Calibri"/>
              <a:cs typeface="Calibri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11094415" cy="1828800"/>
          </a:xfrm>
          <a:prstGeom prst="rect">
            <a:avLst/>
          </a:prstGeom>
          <a:solidFill>
            <a:srgbClr val="121A3A"/>
          </a:solidFill>
          <a:ln w="12700">
            <a:solidFill>
              <a:srgbClr val="121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22960" y="3977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MONEY LINE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389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per customer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7548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000" b="1" dirty="0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[  </a:t>
            </a:r>
            <a:r>
              <a:rPr lang="en-US" sz="3000" b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not set</a:t>
            </a:r>
            <a:r>
              <a:rPr lang="en-US" sz="3000" b="1" dirty="0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] </a:t>
            </a:r>
            <a:endParaRPr lang="en-US" sz="3000" dirty="0">
              <a:latin typeface="Cambria"/>
              <a:ea typeface="Cambria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4480560" y="4389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customer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47548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000" b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[ not measured ] </a:t>
            </a:r>
            <a:endParaRPr lang="en-US" sz="3000" b="1">
              <a:solidFill>
                <a:srgbClr val="FFFFFF"/>
              </a:solidFill>
              <a:latin typeface="Cambria"/>
              <a:ea typeface="Cambria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8138160" y="4389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per customer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47548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000" b="1" dirty="0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[ </a:t>
            </a:r>
            <a:r>
              <a:rPr lang="en-US" sz="3000" b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not calculated</a:t>
            </a:r>
            <a:r>
              <a:rPr lang="en-US" sz="3000" b="1" dirty="0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 ] </a:t>
            </a:r>
            <a:endParaRPr lang="en-US" sz="3000" b="1" dirty="0">
              <a:solidFill>
                <a:srgbClr val="FFFFFF"/>
              </a:solidFill>
              <a:latin typeface="Cambria"/>
              <a:ea typeface="Cambria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5486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 ·  MVP or Prototype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 b="1" dirty="0" err="1">
                <a:solidFill>
                  <a:schemeClr val="accent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SwapIt</a:t>
            </a:r>
            <a:r>
              <a:rPr lang="en-US" sz="2800" b="1" dirty="0">
                <a:solidFill>
                  <a:schemeClr val="accent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 API Prototype</a:t>
            </a:r>
            <a:endParaRPr lang="en-US" sz="2800" b="1">
              <a:solidFill>
                <a:schemeClr val="accent1">
                  <a:lumMod val="49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7F8FC"/>
          </a:solidFill>
          <a:ln w="12700">
            <a:solidFill>
              <a:srgbClr val="DDE2EE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US" dirty="0"/>
              <a:t> Authentication Register, login, and JWT token </a:t>
            </a:r>
            <a:r>
              <a:rPr lang="en-US"/>
              <a:t>verification.</a:t>
            </a:r>
          </a:p>
          <a:p>
            <a:endParaRPr lang="en-US" dirty="0"/>
          </a:p>
          <a:p>
            <a:r>
              <a:rPr lang="en-US" dirty="0"/>
              <a:t> Product Management Create and browse product listings. </a:t>
            </a:r>
            <a:endParaRPr lang="en-US"/>
          </a:p>
          <a:p>
            <a:endParaRPr lang="en-US" dirty="0"/>
          </a:p>
          <a:p>
            <a:r>
              <a:rPr lang="en-US"/>
              <a:t>Exchange Requests Create, accept, and reject </a:t>
            </a:r>
            <a:r>
              <a:rPr lang="en-US" dirty="0"/>
              <a:t>exchange requests. </a:t>
            </a:r>
          </a:p>
          <a:p>
            <a:endParaRPr lang="en-US" dirty="0"/>
          </a:p>
          <a:p>
            <a:r>
              <a:rPr lang="en-US"/>
              <a:t>Testing Tested the exchange workflow with </a:t>
            </a:r>
            <a:r>
              <a:rPr lang="en-US" dirty="0"/>
              <a:t>two users and sample products.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336792" y="146304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FBF6EC"/>
          </a:solidFill>
          <a:ln w="12700">
            <a:solidFill>
              <a:srgbClr val="E8DC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611112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611112" y="201168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458A6-419E-20C4-8C89-B80C6E487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A196D3D-5E5B-C77A-AD69-B85B92BEA186}"/>
              </a:ext>
            </a:extLst>
          </p:cNvPr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BE1C7EF-3098-D93E-C988-80F0C20ACA79}"/>
              </a:ext>
            </a:extLst>
          </p:cNvPr>
          <p:cNvSpPr txBox="1"/>
          <p:nvPr/>
        </p:nvSpPr>
        <p:spPr>
          <a:xfrm>
            <a:off x="548640" y="5486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 ·  YOUR TEAM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3B4FB51-7EAE-9895-30DA-B0BA17921FEF}"/>
              </a:ext>
            </a:extLst>
          </p:cNvPr>
          <p:cNvSpPr txBox="1"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us — and what we need</a:t>
            </a:r>
            <a:endParaRPr lang="en-US" sz="3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7493590-9D42-FFD2-12B8-AC64CB6313F3}"/>
              </a:ext>
            </a:extLst>
          </p:cNvPr>
          <p:cNvSpPr/>
          <p:nvPr/>
        </p:nvSpPr>
        <p:spPr>
          <a:xfrm>
            <a:off x="548640" y="146304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7F8FC"/>
          </a:solidFill>
          <a:ln w="12700">
            <a:solidFill>
              <a:srgbClr val="DD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F29233B-F2FF-40EB-B74C-FD99678496F9}"/>
              </a:ext>
            </a:extLst>
          </p:cNvPr>
          <p:cNvSpPr txBox="1"/>
          <p:nvPr/>
        </p:nvSpPr>
        <p:spPr>
          <a:xfrm>
            <a:off x="82296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</a:t>
            </a:r>
            <a:endParaRPr lang="en-US" sz="11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CDB3F53-2319-D591-9AC2-173251FA4A38}"/>
              </a:ext>
            </a:extLst>
          </p:cNvPr>
          <p:cNvSpPr txBox="1"/>
          <p:nvPr/>
        </p:nvSpPr>
        <p:spPr>
          <a:xfrm>
            <a:off x="822960" y="201168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i="1">
                <a:solidFill>
                  <a:srgbClr val="9AA1B9"/>
                </a:solidFill>
                <a:ea typeface="Calibri"/>
                <a:cs typeface="Calibri"/>
              </a:rPr>
              <a:t>Tasbih Rakha — Backend Development — API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n-US" sz="1600" i="1" dirty="0">
                <a:solidFill>
                  <a:srgbClr val="9AA1B9"/>
                </a:solidFill>
                <a:ea typeface="Calibri"/>
                <a:cs typeface="Calibri"/>
              </a:rPr>
              <a:t> </a:t>
            </a:r>
            <a:r>
              <a:rPr lang="en-US" sz="1600" i="1">
                <a:solidFill>
                  <a:srgbClr val="9AA1B9"/>
                </a:solidFill>
                <a:ea typeface="Calibri"/>
                <a:cs typeface="Calibri"/>
              </a:rPr>
              <a:t>implementation and testing</a:t>
            </a:r>
            <a:endParaRPr lang="en-US">
              <a:ea typeface="Calibri"/>
              <a:cs typeface="Calibri"/>
            </a:endParaRPr>
          </a:p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F84833A-B920-305C-2D2C-CEBB2A8B2FF3}"/>
              </a:ext>
            </a:extLst>
          </p:cNvPr>
          <p:cNvSpPr/>
          <p:nvPr/>
        </p:nvSpPr>
        <p:spPr>
          <a:xfrm>
            <a:off x="6336792" y="146304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FBF6EC"/>
          </a:solidFill>
          <a:ln w="12700">
            <a:solidFill>
              <a:srgbClr val="E8DC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CDBF949-6D7A-9B8A-5B3A-4303079525B4}"/>
              </a:ext>
            </a:extLst>
          </p:cNvPr>
          <p:cNvSpPr txBox="1"/>
          <p:nvPr/>
        </p:nvSpPr>
        <p:spPr>
          <a:xfrm>
            <a:off x="6611112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C017DE6-BC32-51F3-9AC0-D0BB7523BCDE}"/>
              </a:ext>
            </a:extLst>
          </p:cNvPr>
          <p:cNvSpPr txBox="1"/>
          <p:nvPr/>
        </p:nvSpPr>
        <p:spPr>
          <a:xfrm>
            <a:off x="6611112" y="201168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i="1" dirty="0">
                <a:solidFill>
                  <a:srgbClr val="9AA1B9"/>
                </a:solidFill>
                <a:ea typeface="Calibri"/>
                <a:cs typeface="Calibri"/>
              </a:rPr>
              <a:t>Next step: Validate </a:t>
            </a:r>
            <a:r>
              <a:rPr lang="en-US" sz="1600" i="1" dirty="0" err="1">
                <a:solidFill>
                  <a:srgbClr val="9AA1B9"/>
                </a:solidFill>
                <a:ea typeface="Calibri"/>
                <a:cs typeface="Calibri"/>
              </a:rPr>
              <a:t>SwapIt</a:t>
            </a:r>
            <a:r>
              <a:rPr lang="en-US" sz="1600" i="1">
                <a:solidFill>
                  <a:srgbClr val="9AA1B9"/>
                </a:solidFill>
                <a:ea typeface="Calibri"/>
                <a:cs typeface="Calibri"/>
              </a:rPr>
              <a:t> with 15–20 potential users.</a:t>
            </a:r>
            <a:endParaRPr lang="en-US"/>
          </a:p>
          <a:p>
            <a:endParaRPr lang="en-US" sz="1600" i="1" dirty="0">
              <a:solidFill>
                <a:srgbClr val="9AA1B9"/>
              </a:solidFill>
              <a:ea typeface="Calibri"/>
              <a:cs typeface="Calibri"/>
            </a:endParaRPr>
          </a:p>
          <a:p>
            <a:r>
              <a:rPr lang="en-US" sz="1600" i="1">
                <a:solidFill>
                  <a:srgbClr val="9AA1B9"/>
                </a:solidFill>
                <a:ea typeface="Calibri"/>
                <a:cs typeface="Calibri"/>
              </a:rPr>
              <a:t>We need user feedback, survey participation, and support to test the exchange experience.</a:t>
            </a:r>
            <a:endParaRPr lang="en-US"/>
          </a:p>
          <a:p>
            <a:endParaRPr lang="en-US" sz="1600" i="1" dirty="0">
              <a:solidFill>
                <a:srgbClr val="9AA1B9"/>
              </a:solidFill>
              <a:ea typeface="Calibri"/>
              <a:cs typeface="Calibri"/>
            </a:endParaRPr>
          </a:p>
          <a:p>
            <a:endParaRPr lang="en-US" sz="1600" i="1" dirty="0">
              <a:solidFill>
                <a:srgbClr val="9AA1B9"/>
              </a:solidFill>
              <a:ea typeface="Calibri"/>
              <a:cs typeface="Calibri"/>
            </a:endParaRPr>
          </a:p>
          <a:p>
            <a:r>
              <a:rPr lang="en-US" sz="1600" i="1">
                <a:solidFill>
                  <a:srgbClr val="9AA1B9"/>
                </a:solidFill>
                <a:ea typeface="Calibri"/>
                <a:cs typeface="Calibri"/>
              </a:rPr>
              <a:t>Thank you — Questions?</a:t>
            </a:r>
          </a:p>
          <a:p>
            <a:endParaRPr lang="en-US" sz="1600" i="1" dirty="0">
              <a:solidFill>
                <a:srgbClr val="9AA1B9"/>
              </a:solidFill>
              <a:ea typeface="Calibri"/>
              <a:cs typeface="Calibri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28E0F02-D7E9-102F-CE0B-833B4B3791BE}"/>
              </a:ext>
            </a:extLst>
          </p:cNvPr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124411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507</Words>
  <Application>Microsoft Office PowerPoint</Application>
  <PresentationFormat>Widescreen</PresentationFormat>
  <Paragraphs>92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Mohamed Tanib</cp:lastModifiedBy>
  <cp:revision>130</cp:revision>
  <dcterms:created xsi:type="dcterms:W3CDTF">2026-10-17T14:31:14Z</dcterms:created>
  <dcterms:modified xsi:type="dcterms:W3CDTF">2026-10-24T11:45:22Z</dcterms:modified>
</cp:coreProperties>
</file>